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98" r:id="rId12"/>
    <p:sldId id="299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71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7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13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326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260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132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799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49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0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30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87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18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308AD7-ECAB-4755-8AA8-EF3B648350F2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B395B-E79D-4FA4-B032-EB159174CA6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8523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77D302-1592-2871-8D2C-8E078167239A}"/>
              </a:ext>
            </a:extLst>
          </p:cNvPr>
          <p:cNvSpPr txBox="1"/>
          <p:nvPr/>
        </p:nvSpPr>
        <p:spPr>
          <a:xfrm>
            <a:off x="3048733" y="2413338"/>
            <a:ext cx="609746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Problem Statement</a:t>
            </a:r>
          </a:p>
          <a:p>
            <a:pPr>
              <a:buNone/>
            </a:pPr>
            <a:r>
              <a:rPr lang="en-US" dirty="0"/>
              <a:t>In a DevOps lab, every student machine has a different software setup. Faculty wants the </a:t>
            </a:r>
            <a:r>
              <a:rPr lang="en-US" b="1" dirty="0"/>
              <a:t>same environment</a:t>
            </a:r>
            <a:r>
              <a:rPr lang="en-US" dirty="0"/>
              <a:t> for </a:t>
            </a:r>
            <a:r>
              <a:rPr lang="en-US" b="1" dirty="0"/>
              <a:t>Python, Git, and dependencies</a:t>
            </a:r>
            <a:r>
              <a:rPr lang="en-US" dirty="0"/>
              <a:t> on every system.</a:t>
            </a:r>
          </a:p>
          <a:p>
            <a:pPr>
              <a:buNone/>
            </a:pPr>
            <a:r>
              <a:rPr lang="en-US" b="1" dirty="0"/>
              <a:t>Student Task</a:t>
            </a:r>
          </a:p>
          <a:p>
            <a:pPr>
              <a:buNone/>
            </a:pPr>
            <a:r>
              <a:rPr lang="en-US" dirty="0"/>
              <a:t>Create a </a:t>
            </a:r>
            <a:r>
              <a:rPr lang="en-US" b="1" dirty="0"/>
              <a:t>reusable Docker image</a:t>
            </a:r>
            <a:r>
              <a:rPr lang="en-US" dirty="0"/>
              <a:t> and show how it can be </a:t>
            </a:r>
            <a:r>
              <a:rPr lang="en-US" b="1" dirty="0"/>
              <a:t>shared using Docker Hub or another registry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19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24DA4C-41BD-5144-7E83-7C77419C85B9}"/>
              </a:ext>
            </a:extLst>
          </p:cNvPr>
          <p:cNvSpPr txBox="1"/>
          <p:nvPr/>
        </p:nvSpPr>
        <p:spPr>
          <a:xfrm>
            <a:off x="1670539" y="1046284"/>
            <a:ext cx="89505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this problem happens</a:t>
            </a:r>
          </a:p>
          <a:p>
            <a:pPr algn="ctr"/>
            <a:r>
              <a:rPr lang="en-US" dirty="0"/>
              <a:t>Normally, student systems differ in:</a:t>
            </a:r>
          </a:p>
          <a:p>
            <a:pPr algn="ctr"/>
            <a:r>
              <a:rPr lang="en-US" dirty="0"/>
              <a:t>Python version</a:t>
            </a:r>
          </a:p>
          <a:p>
            <a:pPr algn="ctr"/>
            <a:r>
              <a:rPr lang="en-US" dirty="0"/>
              <a:t>Installed libraries</a:t>
            </a:r>
          </a:p>
          <a:p>
            <a:pPr algn="ctr"/>
            <a:r>
              <a:rPr lang="en-US" dirty="0"/>
              <a:t>Git availability</a:t>
            </a:r>
          </a:p>
          <a:p>
            <a:pPr algn="ctr"/>
            <a:r>
              <a:rPr lang="en-US" dirty="0"/>
              <a:t>OS differences</a:t>
            </a:r>
          </a:p>
          <a:p>
            <a:pPr algn="ctr"/>
            <a:r>
              <a:rPr lang="en-US" dirty="0"/>
              <a:t>Missing environment variables</a:t>
            </a:r>
          </a:p>
          <a:p>
            <a:pPr algn="ctr"/>
            <a:r>
              <a:rPr lang="en-US" dirty="0"/>
              <a:t>Different package versions</a:t>
            </a:r>
          </a:p>
          <a:p>
            <a:r>
              <a:rPr lang="en-US" b="1" dirty="0"/>
              <a:t>Because of this, the same Python project may:</a:t>
            </a:r>
          </a:p>
          <a:p>
            <a:pPr algn="ctr"/>
            <a:r>
              <a:rPr lang="en-US" dirty="0"/>
              <a:t>work on one laptop</a:t>
            </a:r>
          </a:p>
          <a:p>
            <a:pPr algn="ctr"/>
            <a:r>
              <a:rPr lang="en-US" dirty="0"/>
              <a:t>fail on another</a:t>
            </a:r>
          </a:p>
          <a:p>
            <a:pPr algn="ctr"/>
            <a:r>
              <a:rPr lang="en-US" dirty="0"/>
              <a:t>produce inconsistent output in the lab</a:t>
            </a:r>
          </a:p>
        </p:txBody>
      </p:sp>
    </p:spTree>
    <p:extLst>
      <p:ext uri="{BB962C8B-B14F-4D97-AF65-F5344CB8AC3E}">
        <p14:creationId xmlns:p14="http://schemas.microsoft.com/office/powerpoint/2010/main" val="112350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9E949-1277-06DA-A8F1-099856BD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AD1D35-FE5C-2B85-7086-BD72979DCE56}"/>
              </a:ext>
            </a:extLst>
          </p:cNvPr>
          <p:cNvSpPr txBox="1"/>
          <p:nvPr/>
        </p:nvSpPr>
        <p:spPr>
          <a:xfrm>
            <a:off x="1633171" y="1624124"/>
            <a:ext cx="6097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Why Docker solves it</a:t>
            </a:r>
          </a:p>
          <a:p>
            <a:pPr>
              <a:buNone/>
            </a:pPr>
            <a:r>
              <a:rPr lang="en-US" dirty="0"/>
              <a:t>Docker packages the application environment into a </a:t>
            </a:r>
            <a:r>
              <a:rPr lang="en-US" b="1" dirty="0"/>
              <a:t>portable image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That image contains:</a:t>
            </a:r>
          </a:p>
          <a:p>
            <a:r>
              <a:rPr lang="en-US" dirty="0"/>
              <a:t>operating system layer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Git</a:t>
            </a:r>
          </a:p>
          <a:p>
            <a:r>
              <a:rPr lang="en-US" dirty="0"/>
              <a:t>required Python packages</a:t>
            </a:r>
          </a:p>
          <a:p>
            <a:r>
              <a:rPr lang="en-US" dirty="0"/>
              <a:t>project files</a:t>
            </a:r>
          </a:p>
          <a:p>
            <a:r>
              <a:rPr lang="en-US" dirty="0"/>
              <a:t>startup command</a:t>
            </a:r>
          </a:p>
          <a:p>
            <a:pPr>
              <a:buNone/>
            </a:pPr>
            <a:r>
              <a:rPr lang="en-US" dirty="0"/>
              <a:t>So every student runs the </a:t>
            </a:r>
            <a:r>
              <a:rPr lang="en-US" b="1" dirty="0"/>
              <a:t>same container</a:t>
            </a:r>
            <a:r>
              <a:rPr lang="en-US" dirty="0"/>
              <a:t>, which means the same software setup everywhere.</a:t>
            </a:r>
          </a:p>
        </p:txBody>
      </p:sp>
    </p:spTree>
    <p:extLst>
      <p:ext uri="{BB962C8B-B14F-4D97-AF65-F5344CB8AC3E}">
        <p14:creationId xmlns:p14="http://schemas.microsoft.com/office/powerpoint/2010/main" val="3735257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F8B51-32F7-6C50-77E1-F6028258C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AD80E0-6621-5308-00DD-8F69CC9292F3}"/>
              </a:ext>
            </a:extLst>
          </p:cNvPr>
          <p:cNvSpPr txBox="1"/>
          <p:nvPr/>
        </p:nvSpPr>
        <p:spPr>
          <a:xfrm>
            <a:off x="1345223" y="1720840"/>
            <a:ext cx="78009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Goal of the solution</a:t>
            </a:r>
          </a:p>
          <a:p>
            <a:pPr>
              <a:buNone/>
            </a:pPr>
            <a:r>
              <a:rPr lang="en-US" dirty="0"/>
              <a:t>We will create a reusable Docker image that contains:</a:t>
            </a:r>
          </a:p>
          <a:p>
            <a:r>
              <a:rPr lang="en-US" dirty="0"/>
              <a:t>Python</a:t>
            </a:r>
          </a:p>
          <a:p>
            <a:r>
              <a:rPr lang="en-US" dirty="0"/>
              <a:t>Git</a:t>
            </a:r>
          </a:p>
          <a:p>
            <a:r>
              <a:rPr lang="en-US" dirty="0"/>
              <a:t>application dependencies</a:t>
            </a:r>
          </a:p>
          <a:p>
            <a:r>
              <a:rPr lang="en-US" dirty="0"/>
              <a:t>project code</a:t>
            </a:r>
          </a:p>
          <a:p>
            <a:r>
              <a:rPr lang="en-US" dirty="0"/>
              <a:t>Then we will:</a:t>
            </a:r>
          </a:p>
          <a:p>
            <a:r>
              <a:rPr lang="en-US" dirty="0"/>
              <a:t>build the image</a:t>
            </a:r>
          </a:p>
          <a:p>
            <a:r>
              <a:rPr lang="en-US" dirty="0"/>
              <a:t>test it locally</a:t>
            </a:r>
          </a:p>
          <a:p>
            <a:r>
              <a:rPr lang="en-US" dirty="0"/>
              <a:t>tag it properly</a:t>
            </a:r>
          </a:p>
          <a:p>
            <a:r>
              <a:rPr lang="en-US" dirty="0"/>
              <a:t>push it to Docker Hub</a:t>
            </a:r>
          </a:p>
          <a:p>
            <a:r>
              <a:rPr lang="en-US" dirty="0"/>
              <a:t>allow all student machines to pull and run the same image</a:t>
            </a:r>
          </a:p>
        </p:txBody>
      </p:sp>
    </p:spTree>
    <p:extLst>
      <p:ext uri="{BB962C8B-B14F-4D97-AF65-F5344CB8AC3E}">
        <p14:creationId xmlns:p14="http://schemas.microsoft.com/office/powerpoint/2010/main" val="3005975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347A1-5277-88D7-32F2-8CB5AEB0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7C321-7071-58F7-C728-F266E662C88A}"/>
              </a:ext>
            </a:extLst>
          </p:cNvPr>
          <p:cNvSpPr txBox="1"/>
          <p:nvPr/>
        </p:nvSpPr>
        <p:spPr>
          <a:xfrm>
            <a:off x="3048733" y="2136339"/>
            <a:ext cx="609746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Real-world DevOps thinking</a:t>
            </a:r>
          </a:p>
          <a:p>
            <a:pPr>
              <a:buNone/>
            </a:pPr>
            <a:r>
              <a:rPr lang="en-US" dirty="0"/>
              <a:t>This is important in DevOps because DevOps focuses on:</a:t>
            </a:r>
          </a:p>
          <a:p>
            <a:r>
              <a:rPr lang="en-US" dirty="0"/>
              <a:t>repeatability</a:t>
            </a:r>
          </a:p>
          <a:p>
            <a:r>
              <a:rPr lang="en-US" dirty="0"/>
              <a:t>consistency</a:t>
            </a:r>
          </a:p>
          <a:p>
            <a:r>
              <a:rPr lang="en-US" dirty="0"/>
              <a:t>portability</a:t>
            </a:r>
          </a:p>
          <a:p>
            <a:r>
              <a:rPr lang="en-US" dirty="0"/>
              <a:t>automation</a:t>
            </a:r>
          </a:p>
          <a:p>
            <a:r>
              <a:rPr lang="en-US" dirty="0"/>
              <a:t>reducing “it works on my machine” problems</a:t>
            </a:r>
          </a:p>
          <a:p>
            <a:pPr>
              <a:buNone/>
            </a:pPr>
            <a:r>
              <a:rPr lang="en-US" dirty="0"/>
              <a:t>A Docker image becomes a </a:t>
            </a:r>
            <a:r>
              <a:rPr lang="en-US" b="1" dirty="0"/>
              <a:t>standard lab environment</a:t>
            </a:r>
            <a:r>
              <a:rPr lang="en-US" dirty="0"/>
              <a:t> that can be reused by all students and faculty.</a:t>
            </a:r>
          </a:p>
        </p:txBody>
      </p:sp>
    </p:spTree>
    <p:extLst>
      <p:ext uri="{BB962C8B-B14F-4D97-AF65-F5344CB8AC3E}">
        <p14:creationId xmlns:p14="http://schemas.microsoft.com/office/powerpoint/2010/main" val="205915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F2B95-19C7-3899-4BDE-CE727D6E4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64E939-88A4-899C-8ED7-F682E48D3ED4}"/>
              </a:ext>
            </a:extLst>
          </p:cNvPr>
          <p:cNvSpPr txBox="1"/>
          <p:nvPr/>
        </p:nvSpPr>
        <p:spPr>
          <a:xfrm>
            <a:off x="3048733" y="3244334"/>
            <a:ext cx="609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Step-by-step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34757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849EC-FB7A-9AD0-B5CE-7AA9CCDA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0A6A57-C213-BC11-F0B7-763AEE168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282" y="713996"/>
            <a:ext cx="9745435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706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FEE4-60B9-98F6-806E-05D66900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49584-D6FC-75DD-6559-1964BEE0A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414" y="1156970"/>
            <a:ext cx="9831172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426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8CDF-1A29-3ACA-8A0E-D5A00283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9883FF-DBD6-9BAD-74CE-4914F8882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56" y="1371313"/>
            <a:ext cx="994548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40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1312B-43C8-014C-4DEF-0543F473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BA8ABD-322B-B7FA-D069-B9CE42B32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283" y="332943"/>
            <a:ext cx="9383434" cy="619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807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25B07D-FE3C-0B86-8EF6-1011DE2B7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283" y="2462077"/>
            <a:ext cx="9383434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1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671FB2-47FD-6028-8430-B63795181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124" y="471074"/>
            <a:ext cx="10221751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212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2FC47-72A7-5409-7AB8-CAD1F3F3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401495-AF96-1145-9669-44DE2A97C6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361" y="2523998"/>
            <a:ext cx="9869277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57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9B4D5-5F51-BC19-54C1-D6E95F97F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AAE6F0-634B-2420-7EB7-F60F92C49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676" y="190048"/>
            <a:ext cx="10726647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959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71588-76F3-CE65-D288-0DD5EADB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CD15B-6931-296D-419F-36E1C2B2A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9" y="809259"/>
            <a:ext cx="10898121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30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E0731-BF15-23D5-73B4-235223EF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D3124-D0D9-E2D7-849B-1A5AA2CC9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76" y="718759"/>
            <a:ext cx="10545647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32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AF01A-3F75-A618-66BD-372A1C34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4401EB-C310-4F38-9C03-B9DA4434F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677" y="775917"/>
            <a:ext cx="9640645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202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41098-0213-C32C-067B-6FB57DE3F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1287A5-1B31-D93D-84D0-D635043A3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50" y="1042654"/>
            <a:ext cx="10202699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66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5AEF1-67F5-FD25-58AE-24F1B4DF5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33ECF-B691-D1D6-B7CF-AE2A59E97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39" y="1056944"/>
            <a:ext cx="11079121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1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1EC1E-9FC6-89A6-E35F-D8C7ED95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207837-F257-B023-497B-A64A40B0E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66" y="618733"/>
            <a:ext cx="10336067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612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04520-CDB6-D1EA-A7D5-643E4061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C0D5BA-C61A-FDD4-307E-7A04483B2CE1}"/>
              </a:ext>
            </a:extLst>
          </p:cNvPr>
          <p:cNvSpPr txBox="1"/>
          <p:nvPr/>
        </p:nvSpPr>
        <p:spPr>
          <a:xfrm>
            <a:off x="430306" y="2435469"/>
            <a:ext cx="227746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DevOps reasoning</a:t>
            </a:r>
          </a:p>
          <a:p>
            <a:r>
              <a:rPr lang="en-US" dirty="0"/>
              <a:t>Tagging the image with a version is important. It helps in version control, reuse, rollback, and proper release management.</a:t>
            </a:r>
          </a:p>
          <a:p>
            <a:r>
              <a:rPr lang="en-US" dirty="0"/>
              <a:t> Faculty can distribute version 1.0 today and 1.1 later if needed.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2298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FA4BC-8BF6-9385-B325-490E9A1E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7FB0BA-EC42-8E79-1030-DAC5BADFB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66" y="618733"/>
            <a:ext cx="10336067" cy="5620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25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B7733-FC04-E861-7E32-5F887144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273A14-DEC9-921D-E1BD-16F5DE95EA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887" y="923575"/>
            <a:ext cx="9850225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13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F041A-421A-FE78-C341-5EB44AF18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67C0E0-4890-2187-F2F0-8B87FF629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24" y="518706"/>
            <a:ext cx="10402752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08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074C-69B8-D878-1E93-9D62B3B6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017CCA-DDE0-F2F5-8699-66162689B977}"/>
              </a:ext>
            </a:extLst>
          </p:cNvPr>
          <p:cNvSpPr txBox="1"/>
          <p:nvPr/>
        </p:nvSpPr>
        <p:spPr>
          <a:xfrm>
            <a:off x="3048733" y="2828836"/>
            <a:ext cx="6097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DevOps reasoning</a:t>
            </a:r>
          </a:p>
          <a:p>
            <a:pPr>
              <a:buNone/>
            </a:pPr>
            <a:r>
              <a:rPr lang="en-US" dirty="0"/>
              <a:t>Running the container validates that the image works correctly. A built image is useful only if it can actually run successfully in a container.</a:t>
            </a:r>
          </a:p>
        </p:txBody>
      </p:sp>
    </p:spTree>
    <p:extLst>
      <p:ext uri="{BB962C8B-B14F-4D97-AF65-F5344CB8AC3E}">
        <p14:creationId xmlns:p14="http://schemas.microsoft.com/office/powerpoint/2010/main" val="1024313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929CD-D6F2-E869-AA7C-1556C1FE2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6FAA11-4941-4317-18C7-DEC1A2CF9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072" y="790206"/>
            <a:ext cx="9897856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60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F775B-3F0E-5B08-EEB5-B2174A463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35A81A-7987-2B72-3FA2-068860170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66" y="1323681"/>
            <a:ext cx="9793067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8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48189-8230-BF39-7AFF-926EC22F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172D4-49A9-9A2F-4DD6-A25FFAFE8D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24" y="399627"/>
            <a:ext cx="10583752" cy="605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3645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6E71-0466-67A7-6E57-7E45BC385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32E2A1-CBF5-05B3-9599-0620435A6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14" y="871180"/>
            <a:ext cx="10012172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552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AC5FC-8AAA-C0E8-C180-86108977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8E6982-14CE-626F-D295-04989440D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256" y="194811"/>
            <a:ext cx="9945488" cy="646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11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0CB89-31E0-1A31-69EA-665916D4F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95FEAE-6FE6-0947-23E0-6324C9768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0" y="947391"/>
            <a:ext cx="999312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4455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E20C6-DF51-DE88-0A45-9287C8B3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BFFB2B-39E1-4B8E-4C2B-D7C0F4201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40" y="947391"/>
            <a:ext cx="9993120" cy="496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848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51F9-0DD9-D3AD-4EC0-3F71EFA7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BF3B70-7DC4-8033-64C9-624482A0D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08" y="513943"/>
            <a:ext cx="10088383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026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AA99E-ECD7-1F25-683B-155A9ADB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F765BC-0C1B-F7E5-73F7-3081139DF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92" y="713996"/>
            <a:ext cx="11041016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2439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1605D-EA1A-2D40-4CD9-91F30317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0A570-E802-BA3C-C645-10E2F5731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56" y="1156970"/>
            <a:ext cx="10126488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43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F66A3-B54F-EB7E-0A23-1D70B903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017565-3A32-65A4-7FBC-70D5EA53D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994" y="1799997"/>
            <a:ext cx="7964011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48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1279-4A8A-8FA4-FB32-46A6E9A1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7F19F-E128-3C82-0C26-9A255838A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994" y="1799997"/>
            <a:ext cx="7964011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5394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0960-D01E-4EB9-AC0A-C8E7559C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F43C6A-087C-F698-FC60-B2B9DD52D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19" y="1857155"/>
            <a:ext cx="10116962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6299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6736-1C9A-8BF9-C743-C9F548A2B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8424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7C3D8-26BA-2062-B250-7D066359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9666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E206-4207-21F9-34A0-7DB753C92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00892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F9F2-8ABC-A3E9-089F-0446517F6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2386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PPT-Template</Template>
  <TotalTime>117</TotalTime>
  <Words>309</Words>
  <Application>Microsoft Office PowerPoint</Application>
  <PresentationFormat>Widescreen</PresentationFormat>
  <Paragraphs>52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Aptos</vt:lpstr>
      <vt:lpstr>Aptos Display</vt:lpstr>
      <vt:lpstr>Arial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misra</dc:creator>
  <cp:lastModifiedBy>alok misra</cp:lastModifiedBy>
  <cp:revision>1</cp:revision>
  <dcterms:created xsi:type="dcterms:W3CDTF">2026-03-17T14:10:49Z</dcterms:created>
  <dcterms:modified xsi:type="dcterms:W3CDTF">2026-03-17T16:08:03Z</dcterms:modified>
</cp:coreProperties>
</file>